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Incidencias Resueltas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Semanal</c:v>
                </c:pt>
                <c:pt idx="1">
                  <c:v>Mensual</c:v>
                </c:pt>
                <c:pt idx="2">
                  <c:v>Q1</c:v>
                </c:pt>
                <c:pt idx="3">
                  <c:v>Q2</c:v>
                </c:pt>
                <c:pt idx="4">
                  <c:v>Q3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120</c:v>
                </c:pt>
                <c:pt idx="2">
                  <c:v>310</c:v>
                </c:pt>
                <c:pt idx="3">
                  <c:v>290</c:v>
                </c:pt>
                <c:pt idx="4">
                  <c:v>275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Requerimientos Entregados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Semanal</c:v>
                </c:pt>
                <c:pt idx="1">
                  <c:v>Mensual</c:v>
                </c:pt>
                <c:pt idx="2">
                  <c:v>Q1</c:v>
                </c:pt>
                <c:pt idx="3">
                  <c:v>Q2</c:v>
                </c:pt>
                <c:pt idx="4">
                  <c:v>Q3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45</c:v>
                </c:pt>
                <c:pt idx="2">
                  <c:v>110</c:v>
                </c:pt>
                <c:pt idx="3">
                  <c:v>125</c:v>
                </c:pt>
                <c:pt idx="4">
                  <c:v>140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Estado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Completados (45%)</c:v>
                </c:pt>
                <c:pt idx="1">
                  <c:v>En Tiempo (35%)</c:v>
                </c:pt>
                <c:pt idx="2">
                  <c:v>En Riesgo (15%)</c:v>
                </c:pt>
                <c:pt idx="3">
                  <c:v>Retrasados (5%)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35</c:v>
                </c:pt>
                <c:pt idx="2">
                  <c:v>15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DIRECCIÓN DE TECNOLOGÍA &amp; TRANSFORMACIÓN DIGITAL</a:t>
            </a:r>
          </a:p>
          <a:p>
            <a:pPr>
              <a:spcAft>
                <a:spcPts val="4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Reporte Ejecutivo de Gestión</a:t>
            </a:r>
          </a:p>
          <a:p>
            <a:pPr>
              <a:spcAft>
                <a:spcPts val="1600"/>
              </a:spcAft>
              <a:defRPr sz="2000">
                <a:solidFill>
                  <a:srgbClr val="94A3B8"/>
                </a:solidFill>
                <a:latin typeface="Arial"/>
              </a:defRPr>
            </a:pPr>
            <a:r>
              <a:t>Control Integral: Incidencias, Requerimientos y Portafolio de Proyectos</a:t>
            </a:r>
          </a:p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Consolidado de Logros y Desempeño: Semanal · Mensual · Trimestral · Anual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937760"/>
            <a:ext cx="24688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507492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2563EB"/>
                </a:solidFill>
                <a:latin typeface="Arial"/>
              </a:defRPr>
            </a:pPr>
            <a:r>
              <a:t>PERÍODO EVALUADO</a:t>
            </a:r>
          </a:p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Q3 - Agosto 2026 (Semanal / Mensual / Anual)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4937760"/>
            <a:ext cx="24688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507492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2563EB"/>
                </a:solidFill>
                <a:latin typeface="Arial"/>
              </a:defRPr>
            </a:pPr>
            <a:r>
              <a:t>ÁREA EMISORA</a:t>
            </a:r>
          </a:p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Oficina de Gestión de Proyectos (PMO) &amp; TI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937760"/>
            <a:ext cx="24688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507492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2563EB"/>
                </a:solidFill>
                <a:latin typeface="Arial"/>
              </a:defRPr>
            </a:pPr>
            <a:r>
              <a:t>RESPONSABLE</a:t>
            </a:r>
          </a:p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Consultoría Senior de Business Intelligence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4937760"/>
            <a:ext cx="24688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507492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2563EB"/>
                </a:solidFill>
                <a:latin typeface="Arial"/>
              </a:defRPr>
            </a:pPr>
            <a:r>
              <a:t>ESTADO DE AUDITORÍA</a:t>
            </a:r>
          </a:p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Consolidado y Validado 100%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Arial"/>
              </a:defRPr>
            </a:pPr>
            <a:r>
              <a:t>RESUMEN DE DESEMPEÑO</a:t>
            </a:r>
          </a:p>
          <a:p>
            <a:pPr>
              <a:spcAft>
                <a:spcPts val="200"/>
              </a:spcAft>
              <a:defRPr sz="1900" b="1">
                <a:solidFill>
                  <a:srgbClr val="0F172A"/>
                </a:solidFill>
                <a:latin typeface="Arial"/>
              </a:defRPr>
            </a:pPr>
            <a:r>
              <a:t>Grandes Números: Logros Clave y Cumplimiento de Metas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Visión de alto nivel sobre la efectividad operativa y avance del portafolio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Reporte de Gestión Ejecutivo · Dirección de TI y Operaciones | Diapositiva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3429000" cy="7315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29718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SLA DE INCIDENCIAS RESUELTAS</a:t>
            </a:r>
          </a:p>
          <a:p>
            <a:pPr>
              <a:spcAft>
                <a:spcPts val="400"/>
              </a:spcAft>
              <a:defRPr sz="3200" b="1">
                <a:solidFill>
                  <a:srgbClr val="047857"/>
                </a:solidFill>
                <a:latin typeface="Arial"/>
              </a:defRPr>
            </a:pPr>
            <a:r>
              <a:t>95.2%</a:t>
            </a:r>
          </a:p>
          <a:p>
            <a:pPr>
              <a:spcAft>
                <a:spcPts val="400"/>
              </a:spcAft>
              <a:defRPr sz="1000" b="1">
                <a:solidFill>
                  <a:srgbClr val="047857"/>
                </a:solidFill>
                <a:latin typeface="Arial"/>
              </a:defRPr>
            </a:pPr>
            <a:r>
              <a:t>▲ +3.2% vs. Meta (92.0%)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120 incidencias gestionadas en el periodo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342900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91640"/>
            <a:ext cx="29718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REQUERIMIENTOS ENTREGADOS</a:t>
            </a:r>
          </a:p>
          <a:p>
            <a:pPr>
              <a:spcAft>
                <a:spcPts val="400"/>
              </a:spcAft>
              <a:defRPr sz="3200" b="1">
                <a:solidFill>
                  <a:srgbClr val="1E3A8A"/>
                </a:solidFill>
                <a:latin typeface="Arial"/>
              </a:defRPr>
            </a:pPr>
            <a:r>
              <a:t>45</a:t>
            </a:r>
          </a:p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▲ -30% Reducción de Backlog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12 requerimientos críticos cerrados en semana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08760"/>
            <a:ext cx="3429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691640"/>
            <a:ext cx="29718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AVANCE PROMEDIO DE PROYECTOS</a:t>
            </a:r>
          </a:p>
          <a:p>
            <a:pPr>
              <a:spcAft>
                <a:spcPts val="400"/>
              </a:spcAft>
              <a:defRPr sz="3200" b="1">
                <a:solidFill>
                  <a:srgbClr val="2563EB"/>
                </a:solidFill>
                <a:latin typeface="Arial"/>
              </a:defRPr>
            </a:pPr>
            <a:r>
              <a:t>78.5%</a:t>
            </a:r>
          </a:p>
          <a:p>
            <a:pPr>
              <a:spcAft>
                <a:spcPts val="400"/>
              </a:spcAft>
              <a:defRPr sz="1000" b="1">
                <a:solidFill>
                  <a:srgbClr val="047857"/>
                </a:solidFill>
                <a:latin typeface="Arial"/>
              </a:defRPr>
            </a:pPr>
            <a:r>
              <a:t>● 85% En Regla / A tiempo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15 proyectos estratégicos en curso y completados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10728655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931920"/>
            <a:ext cx="10180015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DIAGNÓSTICO E INTERPRETACIÓN EJECUTIVA DEL PERIODO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F172A"/>
                </a:solidFill>
                <a:latin typeface="Arial"/>
              </a:rPr>
              <a:t>✔ Eficiencia Operativa en Incidencias: </a:t>
            </a:r>
            <a:r>
              <a:rPr sz="1000">
                <a:solidFill>
                  <a:srgbClr val="334155"/>
                </a:solidFill>
                <a:latin typeface="Arial"/>
              </a:rPr>
              <a:t>El SLA de resolución alcanzó el 95.2%, superando el estándar comprometido gracias a la automatización de clasificación y atención prioritaria en 48 horas.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F172A"/>
                </a:solidFill>
                <a:latin typeface="Arial"/>
              </a:rPr>
              <a:t>✔ Aceleración en Entrega de Requerimientos: </a:t>
            </a:r>
            <a:r>
              <a:rPr sz="1000">
                <a:solidFill>
                  <a:srgbClr val="334155"/>
                </a:solidFill>
                <a:latin typeface="Arial"/>
              </a:rPr>
              <a:t>Se entregaron 45 requerimientos funcionales en el mes, logrando una contracción del 30% en el backlog histórico acumulado y mejorando el tiempo de respuesta a usuarios.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F172A"/>
                </a:solidFill>
                <a:latin typeface="Arial"/>
              </a:rPr>
              <a:t>✔ Salud del Portafolio de Proyectos: </a:t>
            </a:r>
            <a:r>
              <a:rPr sz="1000">
                <a:solidFill>
                  <a:srgbClr val="334155"/>
                </a:solidFill>
                <a:latin typeface="Arial"/>
              </a:rPr>
              <a:t>El promedio global de avance se sitúa en 78.5%. De los 15 proyectos en cartera, el 85% avanza en cronograma y 1 proyecto crítico requiere seguimiento preventivo por dependencias externas.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Arial"/>
              </a:defRPr>
            </a:pPr>
            <a:r>
              <a:t>OPERACIONES &amp; SERVICIOS</a:t>
            </a:r>
          </a:p>
          <a:p>
            <a:pPr>
              <a:spcAft>
                <a:spcPts val="200"/>
              </a:spcAft>
              <a:defRPr sz="1900" b="1">
                <a:solidFill>
                  <a:srgbClr val="0F172A"/>
                </a:solidFill>
                <a:latin typeface="Arial"/>
              </a:defRPr>
            </a:pPr>
            <a:r>
              <a:t>Desglose de Logros Operativos: Semana Actual vs. Mes en Curso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Comparativa de volumen, resolución de incidentes y requerimientos cerrados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Reporte de Gestión Ejecutivo · Dirección de TI y Operaciones | Diapositiva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521208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SEMANA ACTUAL (OPERACIÓN INMEDIATA)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194560"/>
            <a:ext cx="4754880" cy="10515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04288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47857"/>
                </a:solidFill>
                <a:latin typeface="Arial"/>
              </a:defRPr>
            </a:pPr>
            <a:r>
              <a:t>95% SLA en Incidencias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28 incidencias resueltas en menos de 48 hrs. Cero incidentes críticos (P1) pendientes.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429000"/>
            <a:ext cx="475488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538728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12 Requerimientos Completados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Atención prioritaria a solicitudes del área financiera y comercial.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663440"/>
            <a:ext cx="4754880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773168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Disponibilidad de Sistemas: 99.9%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Estabilidad operativa total en plataformas core transaccionales.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508760"/>
            <a:ext cx="521208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MES EN CURSO (CONSOLIDADO MENSUAL)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194560"/>
            <a:ext cx="475488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304288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120 Incidencias Atendidas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Incremento de productividad del +14% comparado con el promedio del mes anterior.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3429000"/>
            <a:ext cx="4754880" cy="10515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538728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47857"/>
                </a:solidFill>
                <a:latin typeface="Arial"/>
              </a:defRPr>
            </a:pPr>
            <a:r>
              <a:t>45 Requerimientos Cerrados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Cumplimiento del 112% frente a la meta mensual comprometida (40 reqs).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663440"/>
            <a:ext cx="4754880" cy="1051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773168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45309"/>
                </a:solidFill>
                <a:latin typeface="Arial"/>
              </a:defRPr>
            </a:pPr>
            <a:r>
              <a:t>Proyecto Alfa al 70% de Avance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Hito crítico de arquitectura finalizado; en preparación para fase de pruebas integradas.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Arial"/>
              </a:defRPr>
            </a:pPr>
            <a:r>
              <a:t>EVOLUCIÓN ESTRATÉGICA</a:t>
            </a:r>
          </a:p>
          <a:p>
            <a:pPr>
              <a:spcAft>
                <a:spcPts val="200"/>
              </a:spcAft>
              <a:defRPr sz="1900" b="1">
                <a:solidFill>
                  <a:srgbClr val="0F172A"/>
                </a:solidFill>
                <a:latin typeface="Arial"/>
              </a:defRPr>
            </a:pPr>
            <a:r>
              <a:t>Visión Estratégica: Desempeño Trimestral (Q1-Q4) y Metas Anuales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Evolución del backlog, despliegues institucionales y cumplimiento acumulado 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Reporte de Gestión Ejecutivo · Dirección de TI y Operaciones | Diapositiva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5146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14884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34155"/>
                </a:solidFill>
                <a:latin typeface="Arial"/>
              </a:defRPr>
            </a:pPr>
            <a:r>
              <a:t>Q1 2026</a:t>
            </a:r>
          </a:p>
          <a:p>
            <a:pPr>
              <a:spcAft>
                <a:spcPts val="6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Fundación &amp; Core</a:t>
            </a:r>
          </a:p>
          <a:p>
            <a:pPr>
              <a:spcAft>
                <a:spcPts val="600"/>
              </a:spcAft>
              <a:defRPr sz="900">
                <a:solidFill>
                  <a:srgbClr val="0F172A"/>
                </a:solidFill>
                <a:latin typeface="Arial"/>
              </a:defRPr>
            </a:pPr>
            <a:r>
              <a:t>• 310 Incidencias resueltas</a:t>
            </a:r>
            <a:br/>
            <a:r>
              <a:t>• 110 Requerimientos</a:t>
            </a:r>
            <a:br/>
            <a:r>
              <a:t>• Despliegue Core v1.0</a:t>
            </a:r>
            <a:br/>
            <a:r>
              <a:t>• Reducción Backlog: -15%</a:t>
            </a:r>
          </a:p>
          <a:p>
            <a:pPr>
              <a:defRPr sz="850" b="1">
                <a:solidFill>
                  <a:srgbClr val="047857"/>
                </a:solidFill>
                <a:latin typeface="Arial"/>
              </a:defRPr>
            </a:pPr>
            <a:r>
              <a:t>Estado: Completado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08760"/>
            <a:ext cx="25146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645920"/>
            <a:ext cx="214884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34155"/>
                </a:solidFill>
                <a:latin typeface="Arial"/>
              </a:defRPr>
            </a:pPr>
            <a:r>
              <a:t>Q2 2026</a:t>
            </a:r>
          </a:p>
          <a:p>
            <a:pPr>
              <a:spcAft>
                <a:spcPts val="6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Automatización</a:t>
            </a:r>
          </a:p>
          <a:p>
            <a:pPr>
              <a:spcAft>
                <a:spcPts val="600"/>
              </a:spcAft>
              <a:defRPr sz="900">
                <a:solidFill>
                  <a:srgbClr val="0F172A"/>
                </a:solidFill>
                <a:latin typeface="Arial"/>
              </a:defRPr>
            </a:pPr>
            <a:r>
              <a:t>• 290 Incidencias resueltas</a:t>
            </a:r>
            <a:br/>
            <a:r>
              <a:t>• 125 Requerimientos</a:t>
            </a:r>
            <a:br/>
            <a:r>
              <a:t>• Módulo de Auto-atención</a:t>
            </a:r>
            <a:br/>
            <a:r>
              <a:t>• Estabilización de SLAs</a:t>
            </a:r>
          </a:p>
          <a:p>
            <a:pPr>
              <a:defRPr sz="850" b="1">
                <a:solidFill>
                  <a:srgbClr val="047857"/>
                </a:solidFill>
                <a:latin typeface="Arial"/>
              </a:defRPr>
            </a:pPr>
            <a:r>
              <a:t>Estado: Completado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2514600" cy="2560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214884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Q3 2026 (Actual)</a:t>
            </a:r>
          </a:p>
          <a:p>
            <a:pPr>
              <a:spcAft>
                <a:spcPts val="6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Transformación</a:t>
            </a:r>
          </a:p>
          <a:p>
            <a:pPr>
              <a:spcAft>
                <a:spcPts val="600"/>
              </a:spcAft>
              <a:defRPr sz="900">
                <a:solidFill>
                  <a:srgbClr val="0F172A"/>
                </a:solidFill>
                <a:latin typeface="Arial"/>
              </a:defRPr>
            </a:pPr>
            <a:r>
              <a:t>• 275 Incidencias en curso</a:t>
            </a:r>
            <a:br/>
            <a:r>
              <a:t>• 140 Requerimientos</a:t>
            </a:r>
            <a:br/>
            <a:r>
              <a:t>• Cierre Backlog: -30%</a:t>
            </a:r>
            <a:br/>
            <a:r>
              <a:t>• Despliegue de 2 Sistemas</a:t>
            </a:r>
          </a:p>
          <a:p>
            <a:pPr>
              <a:defRPr sz="850" b="1">
                <a:solidFill>
                  <a:srgbClr val="2563EB"/>
                </a:solidFill>
                <a:latin typeface="Arial"/>
              </a:defRPr>
            </a:pPr>
            <a:r>
              <a:t>Estado: En Ejecución (92%)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508760"/>
            <a:ext cx="25146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645920"/>
            <a:ext cx="214884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Arial"/>
              </a:defRPr>
            </a:pPr>
            <a:r>
              <a:t>Q4 2026 (Proyectado)</a:t>
            </a:r>
          </a:p>
          <a:p>
            <a:pPr>
              <a:spcAft>
                <a:spcPts val="6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Consolidación</a:t>
            </a:r>
          </a:p>
          <a:p>
            <a:pPr>
              <a:spcAft>
                <a:spcPts val="600"/>
              </a:spcAft>
              <a:defRPr sz="900">
                <a:solidFill>
                  <a:srgbClr val="0F172A"/>
                </a:solidFill>
                <a:latin typeface="Arial"/>
              </a:defRPr>
            </a:pPr>
            <a:r>
              <a:t>• Meta: &lt; 200 incidencias</a:t>
            </a:r>
            <a:br/>
            <a:r>
              <a:t>• 150 Requerimientos</a:t>
            </a:r>
            <a:br/>
            <a:r>
              <a:t>• Auditoría de Calidad ISO</a:t>
            </a:r>
            <a:br/>
            <a:r>
              <a:t>• Renovación de Infraestructura</a:t>
            </a:r>
          </a:p>
          <a:p>
            <a:pPr>
              <a:defRPr sz="850" b="1">
                <a:solidFill>
                  <a:srgbClr val="2563EB"/>
                </a:solidFill>
                <a:latin typeface="Arial"/>
              </a:defRPr>
            </a:pPr>
            <a:r>
              <a:t>Estado: Planificado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0728655" cy="1874519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10180015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BALANCE ESTRATÉGICO ANUAL (CUMPLIMIENTO GLOBAL)</a:t>
            </a: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Cumplimiento de Meta Global: 92%  |  15 Proyectos Estratégicos Finalizados  |  -30% Reducción Neta de Deuda Técnica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La ejecución anual refleja una mejora sostenida en la velocidad de entrega (lead time de requerimientos reducido en un 22%) y una alta disponibilidad de servicios críticos (99.85% promedio anual), asegurando el alineamiento de TI con los objetivos de negocio.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Arial"/>
              </a:defRPr>
            </a:pPr>
            <a:r>
              <a:t>PORTAFOLIO DE PROYECTOS</a:t>
            </a:r>
          </a:p>
          <a:p>
            <a:pPr>
              <a:spcAft>
                <a:spcPts val="200"/>
              </a:spcAft>
              <a:defRPr sz="1900" b="1">
                <a:solidFill>
                  <a:srgbClr val="0F172A"/>
                </a:solidFill>
                <a:latin typeface="Arial"/>
              </a:defRPr>
            </a:pPr>
            <a:r>
              <a:t>Estado y Avance Cuantitativo de Proyectos Prioritarios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Semáforo de control, hitos alcanzados y monitoreo de riesgos de ejecución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Reporte de Gestión Ejecutivo · Dirección de TI y Operaciones | Diapositiva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0632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64748B"/>
                </a:solidFill>
                <a:latin typeface="Arial"/>
              </a:defRPr>
            </a:pPr>
            <a:r>
              <a:t>PRY-001 · Crítico / Core Business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Proyecto Alfa (Core Transaccional)</a:t>
            </a:r>
          </a:p>
          <a:p>
            <a:pPr>
              <a:spcAft>
                <a:spcPts val="400"/>
              </a:spcAft>
              <a:defRPr sz="950" b="1">
                <a:solidFill>
                  <a:srgbClr val="B45309"/>
                </a:solidFill>
                <a:latin typeface="Arial"/>
              </a:defRPr>
            </a:pPr>
            <a:r>
              <a:t>Avance: 70%   |   Estado: En Riesgo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24328"/>
            <a:ext cx="3063240" cy="16459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624328"/>
            <a:ext cx="2144268" cy="16459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Arial"/>
              </a:defRPr>
            </a:pPr>
            <a:r>
              <a:t>Hito Clave: Integración de API de Pagos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45920"/>
            <a:ext cx="30632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64748B"/>
                </a:solidFill>
                <a:latin typeface="Arial"/>
              </a:defRPr>
            </a:pPr>
            <a:r>
              <a:t>PRY-002 · Estratégico / Digital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Proyecto Beta (Portal Clientes)</a:t>
            </a:r>
          </a:p>
          <a:p>
            <a:pPr>
              <a:spcAft>
                <a:spcPts val="400"/>
              </a:spcAft>
              <a:defRPr sz="950" b="1">
                <a:solidFill>
                  <a:srgbClr val="047857"/>
                </a:solidFill>
                <a:latin typeface="Arial"/>
              </a:defRPr>
            </a:pPr>
            <a:r>
              <a:t>Avance: 92%   |   Estado: A Tiempo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624328"/>
            <a:ext cx="3063240" cy="16459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2624328"/>
            <a:ext cx="2818180" cy="1645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88036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Arial"/>
              </a:defRPr>
            </a:pPr>
            <a:r>
              <a:t>Hito Clave: Pruebas de Aceptación (UAT)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087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645920"/>
            <a:ext cx="30632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64748B"/>
                </a:solidFill>
                <a:latin typeface="Arial"/>
              </a:defRPr>
            </a:pPr>
            <a:r>
              <a:t>PRY-003 · Infraestructura &amp; Seguridad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Proyecto Gamma (Infraestructura Cloud)</a:t>
            </a:r>
          </a:p>
          <a:p>
            <a:pPr>
              <a:spcAft>
                <a:spcPts val="400"/>
              </a:spcAft>
              <a:defRPr sz="950" b="1">
                <a:solidFill>
                  <a:srgbClr val="047857"/>
                </a:solidFill>
                <a:latin typeface="Arial"/>
              </a:defRPr>
            </a:pPr>
            <a:r>
              <a:t>Avance: 100%   |   Estado: Completado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624328"/>
            <a:ext cx="3063240" cy="16459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0" y="2624328"/>
            <a:ext cx="3063240" cy="16459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88036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Arial"/>
              </a:defRPr>
            </a:pPr>
            <a:r>
              <a:t>Hito Clave: Puesta en Producción Total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31520" y="3749039"/>
          <a:ext cx="10728655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108960"/>
                <a:gridCol w="1645920"/>
                <a:gridCol w="1463040"/>
                <a:gridCol w="1645920"/>
                <a:gridCol w="1584655"/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Código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Proyecto / Iniciativa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Avance %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Fecha Límite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Estado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PRY-001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Proyecto Alfa (Core Transaccional)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Proyecto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30/09/2026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B45309"/>
                          </a:solidFill>
                          <a:latin typeface="Arial"/>
                        </a:defRPr>
                      </a:pPr>
                      <a:r>
                        <a:t>En Riesgo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PRY-002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Proyecto Beta (Portal de Clientes)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Requerimiento Estratégico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15/09/2026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A Tiempo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PRY-003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Proyecto Gamma (Infraestructura Cloud)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Infraestructura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28/08/2026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Completado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PRY-004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Automatización de Conciliación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Incidencia / Mejora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31/10/2026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A Tiempo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Arial"/>
              </a:defRPr>
            </a:pPr>
            <a:r>
              <a:t>ANALÍTICA DE RENDIMIENTO</a:t>
            </a:r>
          </a:p>
          <a:p>
            <a:pPr>
              <a:spcAft>
                <a:spcPts val="200"/>
              </a:spcAft>
              <a:defRPr sz="1900" b="1">
                <a:solidFill>
                  <a:srgbClr val="0F172A"/>
                </a:solidFill>
                <a:latin typeface="Arial"/>
              </a:defRPr>
            </a:pPr>
            <a:r>
              <a:t>Gráficos Analíticos Integrados: Volumen de Atención y Distribución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Comparativo multi-periodo de demanda vs. entrega y composición del portafolio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Reporte de Gestión Ejecutivo · Dirección de TI y Operaciones | Diapositiva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Arial"/>
              </a:defRPr>
            </a:pPr>
            <a:r>
              <a:t>COMPARATIVO: INCIDENCIAS VS. REQUERIMIENTOS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914400" y="2057400"/>
          <a:ext cx="48463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Arial"/>
              </a:defRPr>
            </a:pPr>
            <a:r>
              <a:t>DISTRIBUCIÓN DEL ESTADO DE PROYECTOS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400800" y="2057400"/>
          <a:ext cx="484632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Arial"/>
              </a:defRPr>
            </a:pPr>
            <a:r>
              <a:t>PLAN DE ACCIÓN</a:t>
            </a:r>
          </a:p>
          <a:p>
            <a:pPr>
              <a:spcAft>
                <a:spcPts val="200"/>
              </a:spcAft>
              <a:defRPr sz="1900" b="1">
                <a:solidFill>
                  <a:srgbClr val="0F172A"/>
                </a:solidFill>
                <a:latin typeface="Arial"/>
              </a:defRPr>
            </a:pPr>
            <a:r>
              <a:t>Conclusiones Ejecutivas, Gestión de Riesgos y Próximos Pasos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Lineamientos estratégicos, mitigaciones activas y compromisos para el siguiente ciclo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Reporte de Gestión Ejecutivo · Dirección de TI y Operaciones | Diapositiva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29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342900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1. CONCLUSIONES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30632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Alta Eficiencia Operativa: </a:t>
            </a:r>
            <a:r>
              <a:rPr sz="900">
                <a:solidFill>
                  <a:srgbClr val="334155"/>
                </a:solidFill>
                <a:latin typeface="Arial"/>
              </a:rPr>
              <a:t>El SLA del 95.2% y la entrega de 45 requerimientos confirman la solidez del equipo.</a:t>
            </a:r>
          </a:p>
          <a:p>
            <a:pPr>
              <a:spcAft>
                <a:spcPts val="10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Mitigación de Deuda Técnica: </a:t>
            </a:r>
            <a:r>
              <a:rPr sz="900">
                <a:solidFill>
                  <a:srgbClr val="334155"/>
                </a:solidFill>
                <a:latin typeface="Arial"/>
              </a:rPr>
              <a:t>La reducción del 30% del backlog liberó capacidad para proyectos estratégicos.</a:t>
            </a:r>
          </a:p>
          <a:p>
            <a:pPr>
              <a:spcAft>
                <a:spcPts val="10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Rendimiento del Portafolio: </a:t>
            </a:r>
            <a:r>
              <a:rPr sz="900">
                <a:solidFill>
                  <a:srgbClr val="334155"/>
                </a:solidFill>
                <a:latin typeface="Arial"/>
              </a:rPr>
              <a:t>El 85% de los proyectos avanzan conforme al cronograma comprometido.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29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3429000" cy="4572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0020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2. RIESGOS Y MITIGACIÓN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30632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Riesgo Proyecto Alfa: </a:t>
            </a:r>
            <a:r>
              <a:rPr sz="900">
                <a:solidFill>
                  <a:srgbClr val="334155"/>
                </a:solidFill>
                <a:latin typeface="Arial"/>
              </a:rPr>
              <a:t>Dependencia de validación de API externa de pagos. Mitigación: Sesión técnica diaria con proveedor.</a:t>
            </a:r>
          </a:p>
          <a:p>
            <a:pPr>
              <a:spcAft>
                <a:spcPts val="10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Cuellos de Botella en UAT: </a:t>
            </a:r>
            <a:r>
              <a:rPr sz="900">
                <a:solidFill>
                  <a:srgbClr val="334155"/>
                </a:solidFill>
                <a:latin typeface="Arial"/>
              </a:rPr>
              <a:t>Disponibilidad de usuarios funcionales para pruebas. Mitigación: Calendario bloqueado con líderes de área.</a:t>
            </a:r>
          </a:p>
          <a:p>
            <a:pPr>
              <a:spcAft>
                <a:spcPts val="10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Crecimiento de Nuevos Reqs: </a:t>
            </a:r>
            <a:r>
              <a:rPr sz="900">
                <a:solidFill>
                  <a:srgbClr val="334155"/>
                </a:solidFill>
                <a:latin typeface="Arial"/>
              </a:rPr>
              <a:t>Mitigación: Aplicación de matriz de priorización por impacto de negocio.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429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34290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0020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3. PRÓXIMOS PASOS (SIGUIENTE CICLO)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30632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Puesta en Marcha Release Q4: </a:t>
            </a:r>
            <a:r>
              <a:rPr sz="900">
                <a:solidFill>
                  <a:srgbClr val="334155"/>
                </a:solidFill>
                <a:latin typeface="Arial"/>
              </a:rPr>
              <a:t>Despliegue integral de la versión 2.0 del portal de autoservicio.</a:t>
            </a:r>
          </a:p>
          <a:p>
            <a:pPr>
              <a:spcAft>
                <a:spcPts val="10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Auditoría de Procesos TI: </a:t>
            </a:r>
            <a:r>
              <a:rPr sz="900">
                <a:solidFill>
                  <a:srgbClr val="334155"/>
                </a:solidFill>
                <a:latin typeface="Arial"/>
              </a:rPr>
              <a:t>Revisión preventiva de controles de seguridad y cumplimiento de estándares.</a:t>
            </a:r>
          </a:p>
          <a:p>
            <a:pPr>
              <a:spcAft>
                <a:spcPts val="10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Capacitación y Adopción: </a:t>
            </a:r>
            <a:r>
              <a:rPr sz="900">
                <a:solidFill>
                  <a:srgbClr val="334155"/>
                </a:solidFill>
                <a:latin typeface="Arial"/>
              </a:rPr>
              <a:t>Talleres de formación a 120 usuarios en las nuevas funcionalidades desplegadas.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